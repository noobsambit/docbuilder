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Source-grounded sample. Separately authored presentation, not instant report conversion.</a:t>
            </a:r>
          </a:p>
          <a:p>
            <a:r>
              <a:t>Renewables 2025: https://www.iea.org/reports/renewables-2025</a:t>
            </a:r>
          </a:p>
          <a:p>
            <a:r>
              <a:t>Energy Storage: https://www.energy.gov/energy-storage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Source-grounded sample. Separately authored presentation, not instant report conversion.</a:t>
            </a:r>
          </a:p>
          <a:p>
            <a:r>
              <a:t>Renewables 2025: https://www.iea.org/reports/renewables-2025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Source-grounded sample. Separately authored presentation, not instant report conversion.</a:t>
            </a:r>
          </a:p>
          <a:p>
            <a:r>
              <a:t>Energy Storage: https://www.energy.gov/energy-storage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Source-grounded sample. Separately authored presentation, not instant report conversion.</a:t>
            </a:r>
          </a:p>
          <a:p>
            <a:r>
              <a:t>Renewables 2025: https://www.iea.org/reports/renewables-2025</a:t>
            </a:r>
          </a:p>
          <a:p>
            <a:r>
              <a:t>Energy Storage: https://www.energy.gov/energy-storage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Source-grounded sample. Separately authored presentation, not instant report conversion.</a:t>
            </a:r>
          </a:p>
          <a:p>
            <a:r>
              <a:t>Renewables 2025: https://www.iea.org/reports/renewables-2025</a:t>
            </a:r>
          </a:p>
          <a:p>
            <a:r>
              <a:t>Energy Storage: https://www.energy.gov/energy-storage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ea.org/reports/renewables-2025" TargetMode="External"/><Relationship Id="rId3" Type="http://schemas.openxmlformats.org/officeDocument/2006/relationships/hyperlink" Target="https://www.energy.gov/energy-storage" TargetMode="Externa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223E30"/>
                </a:solidFill>
                <a:latin typeface="Calibri"/>
              </a:defRPr>
            </a:pPr>
            <a:r>
              <a:t>LEADERSHIP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23E30"/>
                </a:solidFill>
                <a:latin typeface="Calibri"/>
              </a:defRPr>
            </a:pPr>
            <a:r>
              <a:t>Clean Energy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23E30"/>
                </a:solidFill>
                <a:latin typeface="Calibri"/>
              </a:defRPr>
            </a:pPr>
            <a:r>
              <a:t>Renewables and the role of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1280160"/>
            <a:ext cx="3474720" cy="4389120"/>
          </a:xfrm>
          <a:prstGeom prst="rect">
            <a:avLst/>
          </a:prstGeom>
          <a:solidFill>
            <a:srgbClr val="D9E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0" y="3108960"/>
            <a:ext cx="0" cy="192024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686800" y="2468880"/>
            <a:ext cx="0" cy="64008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0" y="3108960"/>
            <a:ext cx="548640" cy="274319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138160" y="3108960"/>
            <a:ext cx="548640" cy="274319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58400" y="2286000"/>
            <a:ext cx="0" cy="274320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058400" y="1645920"/>
            <a:ext cx="0" cy="64008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58400" y="2286000"/>
            <a:ext cx="548640" cy="27432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509760" y="2286000"/>
            <a:ext cx="548640" cy="27432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0" y="5212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23E30"/>
                </a:solidFill>
                <a:latin typeface="Calibri"/>
              </a:defRPr>
            </a:pPr>
            <a:r>
              <a:t>Schematic illustration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23E30"/>
                </a:solidFill>
                <a:latin typeface="Calibri"/>
              </a:defRPr>
            </a:pPr>
            <a:r>
              <a:t>DocBuilder sample presentation                                     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223E30"/>
                </a:solidFill>
                <a:latin typeface="Calibri"/>
              </a:defRPr>
            </a:pPr>
            <a:r>
              <a:t>RENEWABLE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23E30"/>
                </a:solidFill>
                <a:latin typeface="Calibri"/>
              </a:defRPr>
            </a:pPr>
            <a:r>
              <a:t>The scope of the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23E30"/>
                </a:solidFill>
                <a:latin typeface="Calibri"/>
              </a:defRPr>
            </a:pPr>
            <a:r>
              <a:t>Electricity, transport and heat</a:t>
            </a:r>
          </a:p>
          <a:p>
            <a:pPr>
              <a:spcAft>
                <a:spcPts val="1200"/>
              </a:spcAft>
              <a:defRPr sz="2300" b="0">
                <a:solidFill>
                  <a:srgbClr val="223E30"/>
                </a:solidFill>
                <a:latin typeface="Calibri"/>
              </a:defRPr>
            </a:pPr>
            <a:r>
              <a:t>Policy and market conditions</a:t>
            </a:r>
          </a:p>
          <a:p>
            <a:pPr>
              <a:spcAft>
                <a:spcPts val="1200"/>
              </a:spcAft>
              <a:defRPr sz="2300" b="0">
                <a:solidFill>
                  <a:srgbClr val="223E30"/>
                </a:solidFill>
                <a:latin typeface="Calibri"/>
              </a:defRPr>
            </a:pPr>
            <a:r>
              <a:t>Technology deployment through 2030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1280160"/>
            <a:ext cx="3474720" cy="4389120"/>
          </a:xfrm>
          <a:prstGeom prst="rect">
            <a:avLst/>
          </a:prstGeom>
          <a:solidFill>
            <a:srgbClr val="D9E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0" y="3108960"/>
            <a:ext cx="0" cy="192024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686800" y="2468880"/>
            <a:ext cx="0" cy="64008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0" y="3108960"/>
            <a:ext cx="548640" cy="274319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138160" y="3108960"/>
            <a:ext cx="548640" cy="274319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58400" y="2286000"/>
            <a:ext cx="0" cy="274320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058400" y="1645920"/>
            <a:ext cx="0" cy="64008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58400" y="2286000"/>
            <a:ext cx="548640" cy="27432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509760" y="2286000"/>
            <a:ext cx="548640" cy="27432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0" y="5212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23E30"/>
                </a:solidFill>
                <a:latin typeface="Calibri"/>
              </a:defRPr>
            </a:pPr>
            <a:r>
              <a:t>Schematic illustration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23E30"/>
                </a:solidFill>
                <a:latin typeface="Calibri"/>
              </a:defRPr>
            </a:pPr>
            <a:r>
              <a:t>DocBuilder sample presentation                                     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223E30"/>
                </a:solidFill>
                <a:latin typeface="Calibri"/>
              </a:defRPr>
            </a:pPr>
            <a:r>
              <a:t>ENERGY FLEXIBILITY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23E30"/>
                </a:solidFill>
                <a:latin typeface="Calibri"/>
              </a:defRPr>
            </a:pPr>
            <a:r>
              <a:t>Storage connects supply and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23E30"/>
                </a:solidFill>
                <a:latin typeface="Calibri"/>
              </a:defRPr>
            </a:pPr>
            <a:r>
              <a:t>Retain energy from wind and solar</a:t>
            </a:r>
          </a:p>
          <a:p>
            <a:pPr>
              <a:spcAft>
                <a:spcPts val="1200"/>
              </a:spcAft>
              <a:defRPr sz="2300" b="0">
                <a:solidFill>
                  <a:srgbClr val="223E30"/>
                </a:solidFill>
                <a:latin typeface="Calibri"/>
              </a:defRPr>
            </a:pPr>
            <a:r>
              <a:t>Use it when those resources are unavailable</a:t>
            </a:r>
          </a:p>
          <a:p>
            <a:pPr>
              <a:spcAft>
                <a:spcPts val="1200"/>
              </a:spcAft>
              <a:defRPr sz="2300" b="0">
                <a:solidFill>
                  <a:srgbClr val="223E30"/>
                </a:solidFill>
                <a:latin typeface="Calibri"/>
              </a:defRPr>
            </a:pPr>
            <a:r>
              <a:t>Review batteries and pumped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1280160"/>
            <a:ext cx="3474720" cy="4389120"/>
          </a:xfrm>
          <a:prstGeom prst="rect">
            <a:avLst/>
          </a:prstGeom>
          <a:solidFill>
            <a:srgbClr val="D9E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0" y="3108960"/>
            <a:ext cx="0" cy="192024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686800" y="2468880"/>
            <a:ext cx="0" cy="64008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0" y="3108960"/>
            <a:ext cx="548640" cy="274319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138160" y="3108960"/>
            <a:ext cx="548640" cy="274319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58400" y="2286000"/>
            <a:ext cx="0" cy="274320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058400" y="1645920"/>
            <a:ext cx="0" cy="64008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58400" y="2286000"/>
            <a:ext cx="548640" cy="27432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509760" y="2286000"/>
            <a:ext cx="548640" cy="27432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0" y="5212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23E30"/>
                </a:solidFill>
                <a:latin typeface="Calibri"/>
              </a:defRPr>
            </a:pPr>
            <a:r>
              <a:t>Schematic illustration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23E30"/>
                </a:solidFill>
                <a:latin typeface="Calibri"/>
              </a:defRPr>
            </a:pPr>
            <a:r>
              <a:t>DocBuilder sample presentation                                     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223E30"/>
                </a:solidFill>
                <a:latin typeface="Calibri"/>
              </a:defRPr>
            </a:pPr>
            <a:r>
              <a:t>LEADERSHIP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23E30"/>
                </a:solidFill>
                <a:latin typeface="Calibri"/>
              </a:defRPr>
            </a:pPr>
            <a:r>
              <a:t>Decisions need local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23E30"/>
                </a:solidFill>
                <a:latin typeface="Calibri"/>
              </a:defRPr>
            </a:pPr>
            <a:r>
              <a:t>Review forecast assumptions</a:t>
            </a:r>
          </a:p>
          <a:p>
            <a:pPr>
              <a:spcAft>
                <a:spcPts val="1200"/>
              </a:spcAft>
              <a:defRPr sz="2300" b="0">
                <a:solidFill>
                  <a:srgbClr val="223E30"/>
                </a:solidFill>
                <a:latin typeface="Calibri"/>
              </a:defRPr>
            </a:pPr>
            <a:r>
              <a:t>Assess local policy and constraints</a:t>
            </a:r>
          </a:p>
          <a:p>
            <a:pPr>
              <a:spcAft>
                <a:spcPts val="1200"/>
              </a:spcAft>
              <a:defRPr sz="2300" b="0">
                <a:solidFill>
                  <a:srgbClr val="223E30"/>
                </a:solidFill>
                <a:latin typeface="Calibri"/>
              </a:defRPr>
            </a:pPr>
            <a:r>
              <a:t>Document project-specific storage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1280160"/>
            <a:ext cx="3474720" cy="4389120"/>
          </a:xfrm>
          <a:prstGeom prst="rect">
            <a:avLst/>
          </a:prstGeom>
          <a:solidFill>
            <a:srgbClr val="D9E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0" y="3108960"/>
            <a:ext cx="0" cy="192024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686800" y="2468880"/>
            <a:ext cx="0" cy="64008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0" y="3108960"/>
            <a:ext cx="548640" cy="274319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138160" y="3108960"/>
            <a:ext cx="548640" cy="274319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58400" y="2286000"/>
            <a:ext cx="0" cy="274320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058400" y="1645920"/>
            <a:ext cx="0" cy="64008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58400" y="2286000"/>
            <a:ext cx="548640" cy="27432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509760" y="2286000"/>
            <a:ext cx="548640" cy="27432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0" y="5212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23E30"/>
                </a:solidFill>
                <a:latin typeface="Calibri"/>
              </a:defRPr>
            </a:pPr>
            <a:r>
              <a:t>Schematic illustration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23E30"/>
                </a:solidFill>
                <a:latin typeface="Calibri"/>
              </a:defRPr>
            </a:pPr>
            <a:r>
              <a:t>DocBuilder sample presentation                                     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223E30"/>
                </a:solidFill>
                <a:latin typeface="Calibri"/>
              </a:defRPr>
            </a:pPr>
            <a:r>
              <a:t>CONTINUE THE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23E30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223E30"/>
                </a:solidFill>
                <a:latin typeface="Calibri"/>
              </a:defRPr>
            </a:pPr>
            <a:r>
              <a:t>Renewables 2025</a:t>
            </a:r>
          </a:p>
          <a:p>
            <a:pPr>
              <a:spcAft>
                <a:spcPts val="1200"/>
              </a:spcAft>
              <a:defRPr sz="2300" b="0">
                <a:solidFill>
                  <a:srgbClr val="223E30"/>
                </a:solidFill>
                <a:latin typeface="Calibri"/>
              </a:defRPr>
            </a:pPr>
            <a:r>
              <a:t>International Energy Agency</a:t>
            </a:r>
          </a:p>
          <a:p>
            <a:pPr>
              <a:spcAft>
                <a:spcPts val="1200"/>
              </a:spcAft>
              <a:defRPr sz="2300" b="0">
                <a:solidFill>
                  <a:srgbClr val="223E30"/>
                </a:solidFill>
                <a:latin typeface="Calibri"/>
              </a:defRPr>
            </a:pPr>
          </a:p>
          <a:p>
            <a:pPr>
              <a:spcAft>
                <a:spcPts val="1200"/>
              </a:spcAft>
              <a:defRPr sz="2300" b="0">
                <a:solidFill>
                  <a:srgbClr val="223E30"/>
                </a:solidFill>
                <a:latin typeface="Calibri"/>
              </a:defRPr>
            </a:pPr>
            <a:r>
              <a:t>Energy Storage</a:t>
            </a:r>
          </a:p>
          <a:p>
            <a:pPr>
              <a:spcAft>
                <a:spcPts val="1200"/>
              </a:spcAft>
              <a:defRPr sz="2300" b="0">
                <a:solidFill>
                  <a:srgbClr val="223E30"/>
                </a:solidFill>
                <a:latin typeface="Calibri"/>
              </a:defRPr>
            </a:pPr>
            <a:r>
              <a:t>US Department of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1280160"/>
            <a:ext cx="3474720" cy="4389120"/>
          </a:xfrm>
          <a:prstGeom prst="rect">
            <a:avLst/>
          </a:prstGeom>
          <a:solidFill>
            <a:srgbClr val="D9E4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686800" y="3108960"/>
            <a:ext cx="0" cy="192024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686800" y="2468880"/>
            <a:ext cx="0" cy="64008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0" y="3108960"/>
            <a:ext cx="548640" cy="274319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8138160" y="3108960"/>
            <a:ext cx="548640" cy="274319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058400" y="2286000"/>
            <a:ext cx="0" cy="274320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058400" y="1645920"/>
            <a:ext cx="0" cy="64008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58400" y="2286000"/>
            <a:ext cx="548640" cy="27432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509760" y="2286000"/>
            <a:ext cx="548640" cy="274320"/>
          </a:xfrm>
          <a:prstGeom prst="line">
            <a:avLst/>
          </a:prstGeom>
          <a:ln w="38100">
            <a:solidFill>
              <a:srgbClr val="5670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0" y="5212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223E30"/>
                </a:solidFill>
                <a:latin typeface="Calibri"/>
              </a:defRPr>
            </a:pPr>
            <a:r>
              <a:t>Schematic illustration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03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223E30"/>
                </a:solidFill>
                <a:latin typeface="Calibri"/>
              </a:defRPr>
            </a:pPr>
            <a:r>
              <a:rPr>
                <a:hlinkClick r:id="rId2"/>
              </a:rPr>
              <a:t>https://www.iea.org/reports/renewables-2025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223E30"/>
                </a:solidFill>
                <a:latin typeface="Calibri"/>
              </a:defRPr>
            </a:pPr>
            <a:r>
              <a:rPr>
                <a:hlinkClick r:id="rId3"/>
              </a:rPr>
              <a:t>https://www.energy.gov/energy-storage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223E30"/>
                </a:solidFill>
                <a:latin typeface="Calibri"/>
              </a:defRPr>
            </a:pPr>
            <a:r>
              <a:t>DocBuilder sample presentation                                     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Energy Outlook leadership presentation</dc:title>
  <dc:subject/>
  <dc:creator>DocBuilder 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