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Cell division is a fundamental biological process. It allows organisms to grow, repair damaged tissues, and reproduce. There are two main types of cell division: mitosis and meiosis. Mitosis produces two identical daughter cells, while meiosis produces four genetically different cells with half the chromosome number.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cell cycle consists of multiple phases including interphase, prophase, metaphase, anaphase, and telophase. During interphase, the cell grows and DNA replicates. In prophase, chromosomes condense and become visible. Metaphase involves alignment of chromosomes at the cell's equator. During anaphase, sister chromatids separate and move to opposite poles.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Cell division is essential for life. It enables growth from a single fertilized egg to a complex multicellular organism. It allows for tissue repair and regeneration when cells are damaged or die. In unicellular organisms, it serves as the primary means of reproduction.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5E6"/>
        </a:solidFill>
        <a:effectLst/>
      </p:bgPr>
    </p:bg>
    <p:spTree>
      <p:nvGrpSpPr>
        <p:cNvPr id="1" name=""/>
        <p:cNvGrpSpPr/>
        <p:nvPr/>
      </p:nvGrpSpPr>
      <p:grpSpPr/>
      <p:sp>
        <p:nvSpPr>
          <p:cNvPr id="2" name="Rectangle 1"/>
          <p:cNvSpPr/>
          <p:nvPr/>
        </p:nvSpPr>
        <p:spPr>
          <a:xfrm>
            <a:off x="0" y="0"/>
            <a:ext cx="9144000" cy="2743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9144000" cy="2743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7315200" cy="1371600"/>
          </a:xfrm>
          <a:prstGeom prst="rect">
            <a:avLst/>
          </a:prstGeom>
          <a:noFill/>
        </p:spPr>
        <p:txBody>
          <a:bodyPr wrap="square" anchor="ctr">
            <a:spAutoFit/>
          </a:bodyPr>
          <a:lstStyle/>
          <a:p>
            <a:pPr algn="ctr">
              <a:defRPr sz="4400" b="1">
                <a:solidFill>
                  <a:srgbClr val="E74C3C"/>
                </a:solidFill>
                <a:latin typeface="Arial"/>
              </a:defRPr>
            </a:pPr>
            <a:r>
              <a:t>Test Presentation - Formatting Demo</a:t>
            </a:r>
          </a:p>
        </p:txBody>
      </p:sp>
      <p:sp>
        <p:nvSpPr>
          <p:cNvPr id="5" name="Rectangle 4"/>
          <p:cNvSpPr/>
          <p:nvPr/>
        </p:nvSpPr>
        <p:spPr>
          <a:xfrm>
            <a:off x="2743200" y="3749039"/>
            <a:ext cx="3657600" cy="457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023360"/>
            <a:ext cx="7315200" cy="457200"/>
          </a:xfrm>
          <a:prstGeom prst="rect">
            <a:avLst/>
          </a:prstGeom>
          <a:noFill/>
        </p:spPr>
        <p:txBody>
          <a:bodyPr wrap="square">
            <a:spAutoFit/>
          </a:bodyPr>
          <a:lstStyle/>
          <a:p>
            <a:pPr algn="ctr">
              <a:defRPr sz="1800">
                <a:solidFill>
                  <a:srgbClr val="2C3E50"/>
                </a:solidFill>
                <a:latin typeface="Arial"/>
              </a:defRPr>
            </a:pPr>
            <a:r>
              <a:t>Generated by AI Doc Builder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5E6"/>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274320"/>
            <a:ext cx="9006840" cy="8229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365760"/>
            <a:ext cx="8412480" cy="640080"/>
          </a:xfrm>
          <a:prstGeom prst="rect">
            <a:avLst/>
          </a:prstGeom>
          <a:noFill/>
        </p:spPr>
        <p:txBody>
          <a:bodyPr wrap="square" bIns="63500" tIns="63500" anchor="ctr">
            <a:spAutoFit/>
          </a:bodyPr>
          <a:lstStyle/>
          <a:p>
            <a:pPr>
              <a:defRPr sz="2800" b="1">
                <a:solidFill>
                  <a:srgbClr val="FFFFFF"/>
                </a:solidFill>
                <a:latin typeface="Arial"/>
              </a:defRPr>
            </a:pPr>
            <a:r>
              <a:t>Introduction to Cell Division</a:t>
            </a:r>
          </a:p>
        </p:txBody>
      </p:sp>
      <p:sp>
        <p:nvSpPr>
          <p:cNvPr id="5" name="Rectangle 4"/>
          <p:cNvSpPr/>
          <p:nvPr/>
        </p:nvSpPr>
        <p:spPr>
          <a:xfrm>
            <a:off x="365760" y="1234440"/>
            <a:ext cx="8412480" cy="2743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7863840" cy="4846320"/>
          </a:xfrm>
          <a:prstGeom prst="rect">
            <a:avLst/>
          </a:prstGeom>
          <a:noFill/>
        </p:spPr>
        <p:txBody>
          <a:bodyPr wrap="square" lIns="127000" rIns="127000" tIns="127000" bIns="127000">
            <a:spAutoFit/>
          </a:bodyPr>
          <a:lstStyle/>
          <a:p>
            <a:pPr>
              <a:lnSpc>
                <a:spcPct val="130000"/>
              </a:lnSpc>
              <a:spcBef>
                <a:spcPts val="600"/>
              </a:spcBef>
              <a:spcAft>
                <a:spcPts val="800"/>
              </a:spcAft>
              <a:defRPr sz="2000">
                <a:solidFill>
                  <a:srgbClr val="2C3E50"/>
                </a:solidFill>
                <a:latin typeface="Arial"/>
              </a:defRPr>
            </a:pPr>
            <a:r>
              <a:t>Cell division is a fundamental biological process. It allows organisms to grow, repair damaged tissues, and reproduce. There are two main types of cell division: mitosis and meiosis. Mitosis produces two identical daughter cells, while meiosis produces four genetically different cells with half the chromosome number.</a:t>
            </a:r>
          </a:p>
        </p:txBody>
      </p:sp>
      <p:sp>
        <p:nvSpPr>
          <p:cNvPr id="7" name="TextBox 6"/>
          <p:cNvSpPr txBox="1"/>
          <p:nvPr/>
        </p:nvSpPr>
        <p:spPr>
          <a:xfrm>
            <a:off x="7772400" y="6492240"/>
            <a:ext cx="914400" cy="274320"/>
          </a:xfrm>
          <a:prstGeom prst="rect">
            <a:avLst/>
          </a:prstGeom>
          <a:noFill/>
        </p:spPr>
        <p:txBody>
          <a:bodyPr wrap="none">
            <a:spAutoFit/>
          </a:bodyPr>
          <a:lstStyle/>
          <a:p>
            <a:pPr algn="r">
              <a:defRPr sz="1200">
                <a:solidFill>
                  <a:srgbClr val="F39C12"/>
                </a:solidFill>
                <a:latin typeface="Arial"/>
              </a:defRPr>
            </a:pPr>
            <a: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5E6"/>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274320"/>
            <a:ext cx="9006840" cy="8229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365760"/>
            <a:ext cx="8412480" cy="640080"/>
          </a:xfrm>
          <a:prstGeom prst="rect">
            <a:avLst/>
          </a:prstGeom>
          <a:noFill/>
        </p:spPr>
        <p:txBody>
          <a:bodyPr wrap="square" bIns="63500" tIns="63500" anchor="ctr">
            <a:spAutoFit/>
          </a:bodyPr>
          <a:lstStyle/>
          <a:p>
            <a:pPr>
              <a:defRPr sz="2800" b="1">
                <a:solidFill>
                  <a:srgbClr val="FFFFFF"/>
                </a:solidFill>
                <a:latin typeface="Arial"/>
              </a:defRPr>
            </a:pPr>
            <a:r>
              <a:t>Key Concepts</a:t>
            </a:r>
          </a:p>
        </p:txBody>
      </p:sp>
      <p:sp>
        <p:nvSpPr>
          <p:cNvPr id="5" name="Rectangle 4"/>
          <p:cNvSpPr/>
          <p:nvPr/>
        </p:nvSpPr>
        <p:spPr>
          <a:xfrm>
            <a:off x="365760" y="1234440"/>
            <a:ext cx="8412480" cy="2743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7863840" cy="4846320"/>
          </a:xfrm>
          <a:prstGeom prst="rect">
            <a:avLst/>
          </a:prstGeom>
          <a:noFill/>
        </p:spPr>
        <p:txBody>
          <a:bodyPr wrap="square" lIns="127000" rIns="127000" tIns="127000" bIns="127000">
            <a:spAutoFit/>
          </a:bodyPr>
          <a:lstStyle/>
          <a:p>
            <a:pPr>
              <a:lnSpc>
                <a:spcPct val="130000"/>
              </a:lnSpc>
              <a:spcBef>
                <a:spcPts val="600"/>
              </a:spcBef>
              <a:spcAft>
                <a:spcPts val="800"/>
              </a:spcAft>
              <a:defRPr sz="2000">
                <a:solidFill>
                  <a:srgbClr val="2C3E50"/>
                </a:solidFill>
                <a:latin typeface="Arial"/>
              </a:defRPr>
            </a:pPr>
            <a:r>
              <a:t>The cell cycle consists of multiple phases including interphase, prophase, metaphase, anaphase, and telophase. During interphase, the cell grows and DNA replicates. In prophase, chromosomes condense and become visible. Metaphase involves alignment of chromosomes at the cell's equator. During anaphase, sister chromatids separate and move to opposite poles.</a:t>
            </a:r>
          </a:p>
        </p:txBody>
      </p:sp>
      <p:sp>
        <p:nvSpPr>
          <p:cNvPr id="7" name="TextBox 6"/>
          <p:cNvSpPr txBox="1"/>
          <p:nvPr/>
        </p:nvSpPr>
        <p:spPr>
          <a:xfrm>
            <a:off x="7772400" y="6492240"/>
            <a:ext cx="914400" cy="274320"/>
          </a:xfrm>
          <a:prstGeom prst="rect">
            <a:avLst/>
          </a:prstGeom>
          <a:noFill/>
        </p:spPr>
        <p:txBody>
          <a:bodyPr wrap="none">
            <a:spAutoFit/>
          </a:bodyPr>
          <a:lstStyle/>
          <a:p>
            <a:pPr algn="r">
              <a:defRPr sz="1200">
                <a:solidFill>
                  <a:srgbClr val="F39C12"/>
                </a:solidFill>
                <a:latin typeface="Arial"/>
              </a:defRPr>
            </a:pPr>
            <a: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5E6"/>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274320"/>
            <a:ext cx="9006840" cy="8229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365760"/>
            <a:ext cx="8412480" cy="640080"/>
          </a:xfrm>
          <a:prstGeom prst="rect">
            <a:avLst/>
          </a:prstGeom>
          <a:noFill/>
        </p:spPr>
        <p:txBody>
          <a:bodyPr wrap="square" bIns="63500" tIns="63500" anchor="ctr">
            <a:spAutoFit/>
          </a:bodyPr>
          <a:lstStyle/>
          <a:p>
            <a:pPr>
              <a:defRPr sz="2800" b="1">
                <a:solidFill>
                  <a:srgbClr val="FFFFFF"/>
                </a:solidFill>
                <a:latin typeface="Arial"/>
              </a:defRPr>
            </a:pPr>
            <a:r>
              <a:t>Importance in Biology</a:t>
            </a:r>
          </a:p>
        </p:txBody>
      </p:sp>
      <p:sp>
        <p:nvSpPr>
          <p:cNvPr id="5" name="Rectangle 4"/>
          <p:cNvSpPr/>
          <p:nvPr/>
        </p:nvSpPr>
        <p:spPr>
          <a:xfrm>
            <a:off x="365760" y="1234440"/>
            <a:ext cx="8412480" cy="2743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7863840" cy="4846320"/>
          </a:xfrm>
          <a:prstGeom prst="rect">
            <a:avLst/>
          </a:prstGeom>
          <a:noFill/>
        </p:spPr>
        <p:txBody>
          <a:bodyPr wrap="square" lIns="127000" rIns="127000" tIns="127000" bIns="127000">
            <a:spAutoFit/>
          </a:bodyPr>
          <a:lstStyle/>
          <a:p>
            <a:pPr>
              <a:lnSpc>
                <a:spcPct val="130000"/>
              </a:lnSpc>
              <a:spcBef>
                <a:spcPts val="600"/>
              </a:spcBef>
              <a:spcAft>
                <a:spcPts val="800"/>
              </a:spcAft>
              <a:defRPr sz="2000">
                <a:solidFill>
                  <a:srgbClr val="2C3E50"/>
                </a:solidFill>
                <a:latin typeface="Arial"/>
              </a:defRPr>
            </a:pPr>
            <a:r>
              <a:t>Cell division is essential for life. It enables growth from a single fertilized egg to a complex multicellular organism. It allows for tissue repair and regeneration when cells are damaged or die. In unicellular organisms, it serves as the primary means of reproduction.</a:t>
            </a:r>
          </a:p>
        </p:txBody>
      </p:sp>
      <p:sp>
        <p:nvSpPr>
          <p:cNvPr id="7" name="TextBox 6"/>
          <p:cNvSpPr txBox="1"/>
          <p:nvPr/>
        </p:nvSpPr>
        <p:spPr>
          <a:xfrm>
            <a:off x="7772400" y="6492240"/>
            <a:ext cx="914400" cy="274320"/>
          </a:xfrm>
          <a:prstGeom prst="rect">
            <a:avLst/>
          </a:prstGeom>
          <a:noFill/>
        </p:spPr>
        <p:txBody>
          <a:bodyPr wrap="none">
            <a:spAutoFit/>
          </a:bodyPr>
          <a:lstStyle/>
          <a:p>
            <a:pPr algn="r">
              <a:defRPr sz="1200">
                <a:solidFill>
                  <a:srgbClr val="F39C12"/>
                </a:solidFill>
                <a:latin typeface="Arial"/>
              </a:defRPr>
            </a:pPr>
            <a:r>
              <a:t>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